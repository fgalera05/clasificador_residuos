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cyak5tFCe6t3hhEOKASetNCuO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d38f0c8a8_2_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g3ed38f0c8a8_2_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ed38f0c8a8_2_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d38f0c8a8_2_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g3ed38f0c8a8_2_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ed38f0c8a8_2_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lasificador--residuos.streamlit.app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6675120" y="-1463040"/>
            <a:ext cx="4389120" cy="4389120"/>
          </a:xfrm>
          <a:prstGeom prst="ellipse">
            <a:avLst/>
          </a:prstGeom>
          <a:solidFill>
            <a:srgbClr val="2DC653">
              <a:alpha val="12941"/>
            </a:srgbClr>
          </a:solidFill>
          <a:ln cap="flat" cmpd="sng" w="12700">
            <a:solidFill>
              <a:srgbClr val="2DC653">
                <a:alpha val="1294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7406640" y="-822960"/>
            <a:ext cx="2926080" cy="2926080"/>
          </a:xfrm>
          <a:prstGeom prst="ellipse">
            <a:avLst/>
          </a:prstGeom>
          <a:solidFill>
            <a:srgbClr val="2DC653">
              <a:alpha val="27843"/>
            </a:srgbClr>
          </a:solidFill>
          <a:ln cap="flat" cmpd="sng" w="12700">
            <a:solidFill>
              <a:srgbClr val="2DC653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457200" y="365760"/>
            <a:ext cx="1188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Calibri"/>
              <a:buNone/>
            </a:pPr>
            <a:r>
              <a:rPr b="0" i="0" lang="en-US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♻️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457200" y="1417320"/>
            <a:ext cx="8229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Sistema Experto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240280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Clasificador de Residuos Domésticos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2907792"/>
            <a:ext cx="4114800" cy="36576"/>
          </a:xfrm>
          <a:prstGeom prst="rect">
            <a:avLst/>
          </a:prstGeom>
          <a:solidFill>
            <a:srgbClr val="0A9396"/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57200" y="2999232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Análisis de Datos II  ·  Grupo A  ·  Junio de 2026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3429000"/>
            <a:ext cx="2606040" cy="384048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457200" y="342900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Luciano Asís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291840" y="3429000"/>
            <a:ext cx="2606040" cy="384048"/>
          </a:xfrm>
          <a:prstGeom prst="rect">
            <a:avLst/>
          </a:prstGeom>
          <a:solidFill>
            <a:srgbClr val="0A9396"/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3291840" y="342900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Gustavo Barrajón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126480" y="3429000"/>
            <a:ext cx="2606040" cy="384048"/>
          </a:xfrm>
          <a:prstGeom prst="rect">
            <a:avLst/>
          </a:prstGeom>
          <a:solidFill>
            <a:srgbClr val="E6B800"/>
          </a:solidFill>
          <a:ln cap="flat" cmpd="sng" w="12700">
            <a:solidFill>
              <a:srgbClr val="E6B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6126480" y="342900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Fernando Galera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57200" y="3904488"/>
            <a:ext cx="2606040" cy="384048"/>
          </a:xfrm>
          <a:prstGeom prst="rect">
            <a:avLst/>
          </a:prstGeom>
          <a:solidFill>
            <a:srgbClr val="E07B39"/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457200" y="3904488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Gabriel García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3291840" y="3904488"/>
            <a:ext cx="2606040" cy="38404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3291840" y="3904488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Facundo Martínez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126480" y="3904488"/>
            <a:ext cx="2606040" cy="384048"/>
          </a:xfrm>
          <a:prstGeom prst="rect">
            <a:avLst/>
          </a:prstGeom>
          <a:solidFill>
            <a:srgbClr val="7D3C98"/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6126480" y="3904488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Andrea Moreno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" name="Google Shape;3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7880" y="210122"/>
            <a:ext cx="2834640" cy="2752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F5DB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292608" y="182880"/>
            <a:ext cx="530352" cy="530352"/>
          </a:xfrm>
          <a:prstGeom prst="ellipse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292608" y="18288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960120" y="219456"/>
            <a:ext cx="1920240" cy="329184"/>
          </a:xfrm>
          <a:prstGeom prst="rect">
            <a:avLst/>
          </a:prstGeom>
          <a:solidFill>
            <a:srgbClr val="2DC653">
              <a:alpha val="18039"/>
            </a:srgbClr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960120" y="219456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850"/>
              <a:buFont typeface="Calibri"/>
              <a:buNone/>
            </a:pPr>
            <a:r>
              <a:rPr b="1" lang="en-US" sz="1450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INTRODUCCIÓN 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960120" y="640080"/>
            <a:ext cx="7863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El problema: 45.000 toneladas de basura por día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57200" y="1371600"/>
            <a:ext cx="2651760" cy="19659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457200" y="1444752"/>
            <a:ext cx="26517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5000"/>
              <a:buFont typeface="Calibri"/>
              <a:buNone/>
            </a:pPr>
            <a:r>
              <a:rPr b="1" lang="en-US" sz="5000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45.000</a:t>
            </a:r>
            <a:endParaRPr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57200" y="2395728"/>
            <a:ext cx="2651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5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toneladas de basura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5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por día en Argentina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337560" y="1371600"/>
            <a:ext cx="1783080" cy="19659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3337560" y="141732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❓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410712" y="1901952"/>
            <a:ext cx="16276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000"/>
              <a:buFont typeface="Calibri"/>
              <a:buNone/>
            </a:pPr>
            <a:r>
              <a:rPr b="1" lang="en-US" sz="1300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Falta de información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429000" y="2258568"/>
            <a:ext cx="1600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 gente no sabe si una caja de pizza va al reciclable, o qué hacer con una pila gastada</a:t>
            </a: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257800" y="1371600"/>
            <a:ext cx="1783080" cy="19659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5257800" y="141732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🗑️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330950" y="1792225"/>
            <a:ext cx="162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39"/>
              </a:buClr>
              <a:buSzPts val="1000"/>
              <a:buFont typeface="Calibri"/>
              <a:buNone/>
            </a:pPr>
            <a:r>
              <a:rPr b="1" lang="en-US" sz="1200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lang="en-US" sz="1300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ontaminación cruzada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349240" y="2258568"/>
            <a:ext cx="1600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 residuo mal clasificado en la bolsa de reciclables contamina todo el lote.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7178040" y="1371600"/>
            <a:ext cx="1783080" cy="19659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7178040" y="141732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♻️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7251200" y="1901950"/>
            <a:ext cx="1627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000"/>
              <a:buFont typeface="Calibri"/>
              <a:buNone/>
            </a:pPr>
            <a:r>
              <a:rPr b="1" lang="en-US" sz="1300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Potencial desaprovechado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7269475" y="2395724"/>
            <a:ext cx="1600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Una parte enorme podría reciclarse pero termina en el relleno sanitario igual.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57200" y="3781590"/>
            <a:ext cx="8229600" cy="749700"/>
          </a:xfrm>
          <a:prstGeom prst="rect">
            <a:avLst/>
          </a:prstGeom>
          <a:solidFill>
            <a:srgbClr val="2DC653">
              <a:alpha val="14117"/>
            </a:srgbClr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640080" y="3827310"/>
            <a:ext cx="7863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lang="en-US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💡  Nuestra solución: </a:t>
            </a: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el usuario describe qué residuo tiene — por texto o por foto — y el sistema le dice qué es, cómo descartarlo, qué errores evitar y dónde está el Punto Verde más cercano.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F5DB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292608" y="182880"/>
            <a:ext cx="530352" cy="530352"/>
          </a:xfrm>
          <a:prstGeom prst="ellipse">
            <a:avLst/>
          </a:prstGeom>
          <a:solidFill>
            <a:srgbClr val="0A9396"/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292608" y="18288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960120" y="219456"/>
            <a:ext cx="1920240" cy="329184"/>
          </a:xfrm>
          <a:prstGeom prst="rect">
            <a:avLst/>
          </a:prstGeom>
          <a:solidFill>
            <a:srgbClr val="0A9396">
              <a:alpha val="18039"/>
            </a:srgbClr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960120" y="219456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850"/>
              <a:buFont typeface="Calibri"/>
              <a:buNone/>
            </a:pPr>
            <a:r>
              <a:rPr b="1" lang="en-US" sz="1450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LA APLICACIÓN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960120" y="640080"/>
            <a:ext cx="7863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App desplegada en Streamlit Cloud — producción real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643346" y="1284750"/>
            <a:ext cx="1824900" cy="1005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6138440" y="1296252"/>
            <a:ext cx="2834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4200"/>
              <a:buFont typeface="Calibri"/>
              <a:buNone/>
            </a:pPr>
            <a:r>
              <a:rPr b="1" lang="en-US" sz="4200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138440" y="1854036"/>
            <a:ext cx="2834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5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Tipos de residuos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643400" y="2457550"/>
            <a:ext cx="1824900" cy="950400"/>
          </a:xfrm>
          <a:prstGeom prst="rect">
            <a:avLst/>
          </a:prstGeom>
          <a:solidFill>
            <a:srgbClr val="FFFFFF"/>
          </a:solidFill>
          <a:ln cap="flat" cmpd="sng" w="180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  <a:effectLst>
            <a:outerShdw blurRad="96003" rotWithShape="0" algn="bl" dir="8100000" dist="24001">
              <a:srgbClr val="000000">
                <a:alpha val="7843"/>
              </a:srgbClr>
            </a:outerShdw>
          </a:effectLst>
        </p:spPr>
        <p:txBody>
          <a:bodyPr anchorCtr="0" anchor="ctr" bIns="86400" lIns="86400" spcFirstLastPara="1" rIns="86400" wrap="square" tIns="8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6216606" y="2479163"/>
            <a:ext cx="26784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175" lIns="86400" spcFirstLastPara="1" rIns="86400" wrap="square" tIns="43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3969"/>
              <a:buFont typeface="Calibri"/>
              <a:buNone/>
            </a:pPr>
            <a:r>
              <a:rPr b="1" lang="en-US" sz="3969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366</a:t>
            </a:r>
            <a:endParaRPr sz="39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216606" y="3006220"/>
            <a:ext cx="26784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175" lIns="86400" spcFirstLastPara="1" rIns="86400" wrap="square" tIns="43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39"/>
              <a:buFont typeface="Calibri"/>
              <a:buNone/>
            </a:pPr>
            <a:r>
              <a:rPr lang="en-US" sz="1417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Keywords activas</a:t>
            </a:r>
            <a:endParaRPr sz="141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643350" y="3613650"/>
            <a:ext cx="1824900" cy="950400"/>
          </a:xfrm>
          <a:prstGeom prst="rect">
            <a:avLst/>
          </a:prstGeom>
          <a:solidFill>
            <a:srgbClr val="FFFFFF"/>
          </a:solidFill>
          <a:ln cap="flat" cmpd="sng" w="180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  <a:effectLst>
            <a:outerShdw blurRad="95998" rotWithShape="0" algn="bl" dir="8100000" dist="23999">
              <a:srgbClr val="000000">
                <a:alpha val="7843"/>
              </a:srgbClr>
            </a:outerShdw>
          </a:effectLst>
        </p:spPr>
        <p:txBody>
          <a:bodyPr anchorCtr="0" anchor="ctr" bIns="86375" lIns="86375" spcFirstLastPara="1" rIns="86375" wrap="square" tIns="8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6643350" y="3656849"/>
            <a:ext cx="18249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175" lIns="86375" spcFirstLastPara="1" rIns="86375" wrap="square" tIns="43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39"/>
              </a:buClr>
              <a:buSzPts val="3968"/>
              <a:buFont typeface="Calibri"/>
              <a:buNone/>
            </a:pPr>
            <a:r>
              <a:rPr b="1" lang="en-US" sz="3968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396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643350" y="4183878"/>
            <a:ext cx="18249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175" lIns="86375" spcFirstLastPara="1" rIns="86375" wrap="square" tIns="43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39"/>
              <a:buFont typeface="Calibri"/>
              <a:buNone/>
            </a:pPr>
            <a:r>
              <a:rPr lang="en-US" sz="1417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Términos ambiguos</a:t>
            </a:r>
            <a:endParaRPr sz="141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548640" y="4709160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2DC653"/>
                </a:solidFill>
                <a:latin typeface="Consolas"/>
                <a:ea typeface="Consolas"/>
                <a:cs typeface="Consolas"/>
                <a:sym typeface="Consolas"/>
              </a:rPr>
              <a:t>🌐  clasificador--residuos.streamlit.app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blob:https://web.whatsapp.com/5f4e1de7-97d5-49d8-ac53-e5140fd9bc43" id="83" name="Google Shape;83;p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84750"/>
            <a:ext cx="6161252" cy="3209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F5DB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292608" y="182880"/>
            <a:ext cx="530352" cy="530352"/>
          </a:xfrm>
          <a:prstGeom prst="ellipse">
            <a:avLst/>
          </a:prstGeom>
          <a:solidFill>
            <a:srgbClr val="0A9396"/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292608" y="18288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960120" y="219456"/>
            <a:ext cx="1920240" cy="329184"/>
          </a:xfrm>
          <a:prstGeom prst="rect">
            <a:avLst/>
          </a:prstGeom>
          <a:solidFill>
            <a:srgbClr val="0A9396">
              <a:alpha val="18039"/>
            </a:srgbClr>
          </a:solidFill>
          <a:ln cap="flat" cmpd="sng" w="1270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960120" y="219456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850"/>
              <a:buFont typeface="Calibri"/>
              <a:buNone/>
            </a:pPr>
            <a:r>
              <a:rPr b="1" lang="en-US" sz="1450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ARQUITECTURA 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960120" y="640080"/>
            <a:ext cx="7863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Módulos del sistema — Forward Chaining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57200" y="1353312"/>
            <a:ext cx="1920240" cy="15087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457200" y="1399032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02920" y="1883664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1050"/>
              <a:buFont typeface="Calibri"/>
              <a:buNone/>
            </a:pPr>
            <a:r>
              <a:rPr b="1" lang="en-US" sz="1350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Entrada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1050"/>
              <a:buFont typeface="Calibri"/>
              <a:buNone/>
            </a:pPr>
            <a:r>
              <a:rPr b="1" lang="en-US" sz="1350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de usuario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02920" y="239572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i="1" lang="en-US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texto o imagen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2377440" y="2002536"/>
            <a:ext cx="246888" cy="54864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2450592" y="192024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2633472" y="1353312"/>
            <a:ext cx="1920240" cy="15087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2633472" y="1399032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2679192" y="1883664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050"/>
              <a:buFont typeface="Calibri"/>
              <a:buNone/>
            </a:pPr>
            <a:r>
              <a:rPr b="1" lang="en-US" sz="1350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Normalización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050"/>
              <a:buFont typeface="Calibri"/>
              <a:buNone/>
            </a:pPr>
            <a:r>
              <a:rPr b="1" lang="en-US" sz="1350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y detección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2679192" y="239572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i="1" lang="en-US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keywords.csv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553712" y="2002536"/>
            <a:ext cx="246888" cy="54864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4626864" y="192024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809744" y="1353312"/>
            <a:ext cx="1920240" cy="15087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4809744" y="1399032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855464" y="1883664"/>
            <a:ext cx="1828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050"/>
              <a:buFont typeface="Calibri"/>
              <a:buNone/>
            </a:pPr>
            <a:r>
              <a:rPr b="1" lang="en-US" sz="1350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Motor de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050"/>
              <a:buFont typeface="Calibri"/>
              <a:buNone/>
            </a:pPr>
            <a:r>
              <a:rPr b="1" lang="en-US" sz="1350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inferencia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855464" y="239572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i="1" lang="en-US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experta · Forward Chaining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6729984" y="2002536"/>
            <a:ext cx="246888" cy="54864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6803136" y="192024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6986016" y="1353312"/>
            <a:ext cx="1920240" cy="15087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6986016" y="1399032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7031736" y="1883664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39"/>
              </a:buClr>
              <a:buSzPts val="1050"/>
              <a:buFont typeface="Calibri"/>
              <a:buNone/>
            </a:pPr>
            <a:r>
              <a:rPr b="1" lang="en-US" sz="1350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Resultado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39"/>
              </a:buClr>
              <a:buSzPts val="1050"/>
              <a:buFont typeface="Calibri"/>
              <a:buNone/>
            </a:pPr>
            <a:r>
              <a:rPr b="1" lang="en-US" sz="1350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final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7031736" y="239572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i="1" lang="en-US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clasificación + razonamiento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457200" y="29718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Archivos fuente (src/)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57200" y="3364992"/>
            <a:ext cx="2743200" cy="420624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566928" y="3364992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950"/>
              <a:buFont typeface="Consolas"/>
              <a:buNone/>
            </a:pPr>
            <a:r>
              <a:rPr lang="en-US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motor.py  ·  Inferencia / Forward Chaining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3355848" y="3364992"/>
            <a:ext cx="2743200" cy="420624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3465576" y="3364992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950"/>
              <a:buFont typeface="Consolas"/>
              <a:buNone/>
            </a:pPr>
            <a:r>
              <a:rPr lang="en-US" sz="13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data.py  ·  Carga de CSVs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254496" y="3364992"/>
            <a:ext cx="2743200" cy="420624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6364224" y="3364992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950"/>
              <a:buFont typeface="Consolas"/>
              <a:buNone/>
            </a:pPr>
            <a:r>
              <a:rPr lang="en-US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ui</a:t>
            </a:r>
            <a:r>
              <a:rPr lang="en-US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.py</a:t>
            </a:r>
            <a:r>
              <a:rPr lang="en-US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· </a:t>
            </a:r>
            <a:r>
              <a:rPr lang="en-US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interfaz</a:t>
            </a:r>
            <a:r>
              <a:rPr lang="en-US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Streamlit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57200" y="3895344"/>
            <a:ext cx="2743200" cy="420624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566928" y="3895344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950"/>
              <a:buFont typeface="Consolas"/>
              <a:buNone/>
            </a:pPr>
            <a:r>
              <a:rPr lang="en-US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geo.py  ·  Puntos Verdes / Haversine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3355848" y="3895344"/>
            <a:ext cx="2743200" cy="420624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3465576" y="3895344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950"/>
              <a:buFont typeface="Consolas"/>
              <a:buNone/>
            </a:pPr>
            <a:r>
              <a:rPr lang="en-US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vision.py  ·  Gemini 2.5 Flash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6254496" y="3895344"/>
            <a:ext cx="2743200" cy="420624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364224" y="3895344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950"/>
              <a:buFont typeface="Consolas"/>
              <a:buNone/>
            </a:pPr>
            <a:r>
              <a:rPr lang="en-US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compat</a:t>
            </a:r>
            <a:r>
              <a:rPr lang="en-US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.py  ·  Compatibilidad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F5DB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B800"/>
          </a:solidFill>
          <a:ln cap="flat" cmpd="sng" w="12700">
            <a:solidFill>
              <a:srgbClr val="E6B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960120" y="219456"/>
            <a:ext cx="1920240" cy="329184"/>
          </a:xfrm>
          <a:prstGeom prst="rect">
            <a:avLst/>
          </a:prstGeom>
          <a:solidFill>
            <a:srgbClr val="E6B800">
              <a:alpha val="18039"/>
            </a:srgbClr>
          </a:solidFill>
          <a:ln cap="flat" cmpd="sng" w="12700">
            <a:solidFill>
              <a:srgbClr val="E6B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960120" y="219456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B800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E6B800"/>
                </a:solidFill>
                <a:latin typeface="Calibri"/>
                <a:ea typeface="Calibri"/>
                <a:cs typeface="Calibri"/>
                <a:sym typeface="Calibri"/>
              </a:rPr>
              <a:t>BASE DE CONOCIMIENTO 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960120" y="640080"/>
            <a:ext cx="7863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6" title="ChatGPT Image Jun 2, 2026, 09_37_47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600" y="44950"/>
            <a:ext cx="8979401" cy="50535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F5DB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39"/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292608" y="182880"/>
            <a:ext cx="530352" cy="530352"/>
          </a:xfrm>
          <a:prstGeom prst="ellipse">
            <a:avLst/>
          </a:prstGeom>
          <a:solidFill>
            <a:srgbClr val="E07B39"/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292608" y="18288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960120" y="219456"/>
            <a:ext cx="1920240" cy="329184"/>
          </a:xfrm>
          <a:prstGeom prst="rect">
            <a:avLst/>
          </a:prstGeom>
          <a:solidFill>
            <a:srgbClr val="E07B39">
              <a:alpha val="18039"/>
            </a:srgbClr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960120" y="219456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39"/>
              </a:buClr>
              <a:buSzPts val="850"/>
              <a:buFont typeface="Calibri"/>
              <a:buNone/>
            </a:pPr>
            <a:r>
              <a:rPr b="1" lang="en-US" sz="1450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MOTOR DE INFERENCIA</a:t>
            </a:r>
            <a:r>
              <a:rPr b="1" lang="en-US" sz="850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960120" y="640080"/>
            <a:ext cx="7863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Arquitectura de dos capas — Forward Chaining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57200" y="1371600"/>
            <a:ext cx="3977640" cy="23317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457200" y="1371600"/>
            <a:ext cx="3977640" cy="438912"/>
          </a:xfrm>
          <a:prstGeom prst="rect">
            <a:avLst/>
          </a:prstGeom>
          <a:solidFill>
            <a:srgbClr val="E07B39"/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411350" y="1380750"/>
            <a:ext cx="4146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onsolas"/>
              <a:buNone/>
            </a:pPr>
            <a:r>
              <a:rPr b="1" lang="en-US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Capa 1 — ClasificadorBase (salience: 10)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94360" y="1901952"/>
            <a:ext cx="370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onsolas"/>
              <a:buNone/>
            </a:pPr>
            <a:r>
              <a:rPr b="1" lang="en-US" sz="1450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⚡ regla_papel_sucio  → papel_no_reciclable</a:t>
            </a:r>
            <a:endParaRPr b="1"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94350" y="2432300"/>
            <a:ext cx="384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onsolas"/>
              <a:buNone/>
            </a:pPr>
            <a:r>
              <a:rPr b="1" lang="en-US" sz="1450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⚡ regla_vidrio_roto  → basura común</a:t>
            </a:r>
            <a:endParaRPr b="1"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594550" y="2962650"/>
            <a:ext cx="370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onsolas"/>
              <a:buNone/>
            </a:pPr>
            <a:r>
              <a:rPr b="1" lang="en-US" sz="1250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⚡</a:t>
            </a:r>
            <a:r>
              <a:rPr b="1" lang="en-US" sz="1550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450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regla_plastico_sucio  → basura común</a:t>
            </a:r>
            <a:endParaRPr b="1"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4480560" y="224028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983480" y="1371600"/>
            <a:ext cx="3703320" cy="23317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4983480" y="1371600"/>
            <a:ext cx="3703320" cy="438912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5074920" y="1371600"/>
            <a:ext cx="3611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onsolas"/>
              <a:buNone/>
            </a:pPr>
            <a:r>
              <a:rPr b="1" lang="en-US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Capa 2 — Reglas CSV (metaprog.)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5120640" y="1901952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onsolas"/>
              <a:buNone/>
            </a:pPr>
            <a:r>
              <a:rPr b="1" lang="en-US" sz="1450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⚡ construir_motor() lee reglas.csv</a:t>
            </a:r>
            <a:endParaRPr b="1"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5120640" y="2432304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onsolas"/>
              <a:buNone/>
            </a:pPr>
            <a:r>
              <a:rPr b="1" lang="en-US" sz="1450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⚡ @Rule generado con type() en runtime</a:t>
            </a:r>
            <a:endParaRPr b="1"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5120640" y="2962656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onsolas"/>
              <a:buNone/>
            </a:pPr>
            <a:r>
              <a:rPr b="1" lang="en-US" sz="1450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⚡ 31 tipos sin escribir reglas a mano</a:t>
            </a:r>
            <a:endParaRPr b="1"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lang="en-US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Secuencia de hechos (experta library):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457200" y="4160520"/>
            <a:ext cx="2651760" cy="749808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548640" y="4187952"/>
            <a:ext cx="24688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1050"/>
              <a:buFont typeface="Calibri"/>
              <a:buNone/>
            </a:pPr>
            <a:r>
              <a:rPr b="1" lang="en-US" sz="1850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Hecho Residuo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1050"/>
              <a:buFont typeface="Calibri"/>
              <a:buNone/>
            </a:pPr>
            <a:r>
              <a:rPr b="1" lang="en-US" sz="1850">
                <a:solidFill>
                  <a:srgbClr val="2980B9"/>
                </a:solidFill>
                <a:latin typeface="Calibri"/>
                <a:ea typeface="Calibri"/>
                <a:cs typeface="Calibri"/>
                <a:sym typeface="Calibri"/>
              </a:rPr>
              <a:t>tipo + estado físico</a:t>
            </a:r>
            <a:endParaRPr b="1"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3154680" y="4343400"/>
            <a:ext cx="228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3355848" y="4160520"/>
            <a:ext cx="2651760" cy="749808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3447288" y="4187952"/>
            <a:ext cx="24688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39"/>
              </a:buClr>
              <a:buSzPts val="1050"/>
              <a:buFont typeface="Calibri"/>
              <a:buNone/>
            </a:pPr>
            <a:r>
              <a:rPr b="1" lang="en-US" sz="1850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Hecho Clasificado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39"/>
              </a:buClr>
              <a:buSzPts val="1050"/>
              <a:buFont typeface="Calibri"/>
              <a:buNone/>
            </a:pPr>
            <a:r>
              <a:rPr b="1" lang="en-US" sz="1850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tipo reclasificado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6053328" y="4343400"/>
            <a:ext cx="228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6254496" y="4160520"/>
            <a:ext cx="2651760" cy="749808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6053325" y="4187950"/>
            <a:ext cx="30120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050"/>
              <a:buFont typeface="Calibri"/>
              <a:buNone/>
            </a:pPr>
            <a:r>
              <a:rPr b="1" lang="en-US" sz="1850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Hecho Clasificacion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050"/>
              <a:buFont typeface="Calibri"/>
              <a:buNone/>
            </a:pPr>
            <a:r>
              <a:rPr b="1" lang="en-US" sz="1850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resultado + instrucciones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F5DB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d38f0c8a8_2_1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E07B39"/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ed38f0c8a8_2_1"/>
          <p:cNvSpPr/>
          <p:nvPr/>
        </p:nvSpPr>
        <p:spPr>
          <a:xfrm>
            <a:off x="292608" y="182880"/>
            <a:ext cx="530400" cy="530400"/>
          </a:xfrm>
          <a:prstGeom prst="ellipse">
            <a:avLst/>
          </a:prstGeom>
          <a:solidFill>
            <a:srgbClr val="E07B39"/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ed38f0c8a8_2_1"/>
          <p:cNvSpPr/>
          <p:nvPr/>
        </p:nvSpPr>
        <p:spPr>
          <a:xfrm>
            <a:off x="292608" y="182880"/>
            <a:ext cx="5304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ed38f0c8a8_2_1"/>
          <p:cNvSpPr/>
          <p:nvPr/>
        </p:nvSpPr>
        <p:spPr>
          <a:xfrm>
            <a:off x="960120" y="219456"/>
            <a:ext cx="1920300" cy="329100"/>
          </a:xfrm>
          <a:prstGeom prst="rect">
            <a:avLst/>
          </a:prstGeom>
          <a:solidFill>
            <a:srgbClr val="E07B39">
              <a:alpha val="18040"/>
            </a:srgbClr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ed38f0c8a8_2_1"/>
          <p:cNvSpPr/>
          <p:nvPr/>
        </p:nvSpPr>
        <p:spPr>
          <a:xfrm>
            <a:off x="960120" y="219456"/>
            <a:ext cx="1920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39"/>
              </a:buClr>
              <a:buSzPts val="850"/>
              <a:buFont typeface="Calibri"/>
              <a:buNone/>
            </a:pPr>
            <a:r>
              <a:rPr b="1" lang="en-US" sz="1450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MOTOR DE INFERENCIA 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ed38f0c8a8_2_1"/>
          <p:cNvSpPr/>
          <p:nvPr/>
        </p:nvSpPr>
        <p:spPr>
          <a:xfrm>
            <a:off x="4480560" y="2240280"/>
            <a:ext cx="457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3000"/>
              <a:buFont typeface="Calibri"/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g3ed38f0c8a8_2_1"/>
          <p:cNvPicPr preferRelativeResize="0"/>
          <p:nvPr/>
        </p:nvPicPr>
        <p:blipFill rotWithShape="1">
          <a:blip r:embed="rId3">
            <a:alphaModFix/>
          </a:blip>
          <a:srcRect b="14391" l="0" r="46150" t="0"/>
          <a:stretch/>
        </p:blipFill>
        <p:spPr>
          <a:xfrm>
            <a:off x="3119250" y="182875"/>
            <a:ext cx="5663952" cy="49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F5DB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d38f0c8a8_2_36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E07B39"/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ed38f0c8a8_2_36"/>
          <p:cNvSpPr/>
          <p:nvPr/>
        </p:nvSpPr>
        <p:spPr>
          <a:xfrm>
            <a:off x="292608" y="182880"/>
            <a:ext cx="530400" cy="530400"/>
          </a:xfrm>
          <a:prstGeom prst="ellipse">
            <a:avLst/>
          </a:prstGeom>
          <a:solidFill>
            <a:srgbClr val="E07B39"/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ed38f0c8a8_2_36"/>
          <p:cNvSpPr/>
          <p:nvPr/>
        </p:nvSpPr>
        <p:spPr>
          <a:xfrm>
            <a:off x="292608" y="182880"/>
            <a:ext cx="5304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ed38f0c8a8_2_36"/>
          <p:cNvSpPr/>
          <p:nvPr/>
        </p:nvSpPr>
        <p:spPr>
          <a:xfrm>
            <a:off x="960120" y="219456"/>
            <a:ext cx="1920300" cy="329100"/>
          </a:xfrm>
          <a:prstGeom prst="rect">
            <a:avLst/>
          </a:prstGeom>
          <a:solidFill>
            <a:srgbClr val="E07B39">
              <a:alpha val="18040"/>
            </a:srgbClr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ed38f0c8a8_2_36"/>
          <p:cNvSpPr/>
          <p:nvPr/>
        </p:nvSpPr>
        <p:spPr>
          <a:xfrm>
            <a:off x="960120" y="219456"/>
            <a:ext cx="1920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B39"/>
              </a:buClr>
              <a:buSzPts val="850"/>
              <a:buFont typeface="Calibri"/>
              <a:buNone/>
            </a:pPr>
            <a:r>
              <a:rPr b="1" lang="en-US" sz="1450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MOTOR DE INFERENCIA 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ed38f0c8a8_2_36"/>
          <p:cNvSpPr/>
          <p:nvPr/>
        </p:nvSpPr>
        <p:spPr>
          <a:xfrm>
            <a:off x="4480560" y="2240280"/>
            <a:ext cx="457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3000"/>
              <a:buFont typeface="Calibri"/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g3ed38f0c8a8_2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7538" y="52600"/>
            <a:ext cx="5891787" cy="4924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F5DB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504483" y="182880"/>
            <a:ext cx="530400" cy="530400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504483" y="182880"/>
            <a:ext cx="5304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1289720" y="219656"/>
            <a:ext cx="1920300" cy="329100"/>
          </a:xfrm>
          <a:prstGeom prst="rect">
            <a:avLst/>
          </a:prstGeom>
          <a:solidFill>
            <a:srgbClr val="C0392B">
              <a:alpha val="18039"/>
            </a:srgbClr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1242620" y="219656"/>
            <a:ext cx="1920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lang="en-US" sz="14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DEMO EN VIVO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838025" y="640075"/>
            <a:ext cx="7150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5 casos de uso — app en Streamlit Cloud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967500" y="1298577"/>
            <a:ext cx="6883800" cy="4203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1103175" y="1298700"/>
            <a:ext cx="66747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100"/>
              <a:buFont typeface="Consolas"/>
              <a:buNone/>
            </a:pPr>
            <a:r>
              <a:rPr b="1" lang="en-US" sz="1600" u="sng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🌐  clasificador--residuos.streamlit.app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1176375" y="1810500"/>
            <a:ext cx="6674700" cy="567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1176379" y="1810512"/>
            <a:ext cx="530400" cy="5670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1176379" y="1810512"/>
            <a:ext cx="530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1761595" y="1856232"/>
            <a:ext cx="4297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lang="en-US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Clasificación simple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1761600" y="2103250"/>
            <a:ext cx="6089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1" lang="en-US"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'pila gastada' → residuo especial — tarjeta roja — descarte en punto especial</a:t>
            </a:r>
            <a:endParaRPr b="1"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1176374" y="2468875"/>
            <a:ext cx="6674700" cy="567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1176379" y="2468880"/>
            <a:ext cx="530400" cy="567000"/>
          </a:xfrm>
          <a:prstGeom prst="rect">
            <a:avLst/>
          </a:prstGeom>
          <a:solidFill>
            <a:srgbClr val="E07B39"/>
          </a:solidFill>
          <a:ln cap="flat" cmpd="sng" w="12700">
            <a:solidFill>
              <a:srgbClr val="E07B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1176379" y="2468880"/>
            <a:ext cx="530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1761595" y="2514600"/>
            <a:ext cx="4297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lang="en-US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Estado físico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1761600" y="2669900"/>
            <a:ext cx="6089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1" lang="en-US"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'caja de pizza' sucia → regla_papel_sucio (salience 10) → basura común</a:t>
            </a:r>
            <a:endParaRPr b="1"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1176374" y="3127250"/>
            <a:ext cx="6674700" cy="567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6B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1176379" y="3127248"/>
            <a:ext cx="530400" cy="567000"/>
          </a:xfrm>
          <a:prstGeom prst="rect">
            <a:avLst/>
          </a:prstGeom>
          <a:solidFill>
            <a:srgbClr val="E6B800"/>
          </a:solidFill>
          <a:ln cap="flat" cmpd="sng" w="12700">
            <a:solidFill>
              <a:srgbClr val="E6B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1176379" y="3127248"/>
            <a:ext cx="530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1761595" y="3172968"/>
            <a:ext cx="4297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lang="en-US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Ambigüedad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1761600" y="3419850"/>
            <a:ext cx="4506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'</a:t>
            </a:r>
            <a:r>
              <a:rPr b="1" lang="en-US"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botella' → sistema pregunta ¿plástico PET o vidrio?</a:t>
            </a:r>
            <a:endParaRPr b="1"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1176374" y="3785625"/>
            <a:ext cx="6674700" cy="567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1176379" y="3785616"/>
            <a:ext cx="530400" cy="567000"/>
          </a:xfrm>
          <a:prstGeom prst="rect">
            <a:avLst/>
          </a:prstGeom>
          <a:solidFill>
            <a:srgbClr val="2980B9"/>
          </a:solidFill>
          <a:ln cap="flat" cmpd="sng" w="12700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1176379" y="3785616"/>
            <a:ext cx="530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1761595" y="3831336"/>
            <a:ext cx="4297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lang="en-US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Por imagen (Gemini)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1761600" y="3986725"/>
            <a:ext cx="5926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1" lang="en-US"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Foto del residuo → Gemini 2.5 Flash describe → mismo motor de reglas</a:t>
            </a:r>
            <a:endParaRPr b="1"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1176374" y="4443975"/>
            <a:ext cx="6674700" cy="567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1176379" y="4443984"/>
            <a:ext cx="530400" cy="567000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1176379" y="4443984"/>
            <a:ext cx="530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1761595" y="4489704"/>
            <a:ext cx="4297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lang="en-US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Puntos Verdes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1761600" y="4736600"/>
            <a:ext cx="6226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1" lang="en-US"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Geolocalización + fórmula Haversine → centros de reciclaje en 300m en mapa</a:t>
            </a:r>
            <a:endParaRPr b="1"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F5DB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D3C98"/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292608" y="182880"/>
            <a:ext cx="530352" cy="530352"/>
          </a:xfrm>
          <a:prstGeom prst="ellipse">
            <a:avLst/>
          </a:prstGeom>
          <a:solidFill>
            <a:srgbClr val="7D3C98"/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292608" y="18288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960120" y="219456"/>
            <a:ext cx="1920240" cy="329184"/>
          </a:xfrm>
          <a:prstGeom prst="rect">
            <a:avLst/>
          </a:prstGeom>
          <a:solidFill>
            <a:srgbClr val="7D3C98">
              <a:alpha val="18039"/>
            </a:srgbClr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960120" y="219456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850"/>
              <a:buFont typeface="Calibri"/>
              <a:buNone/>
            </a:pPr>
            <a:r>
              <a:rPr b="1" lang="en-US" sz="1450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r>
              <a:rPr b="1" lang="en-US" sz="850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960120" y="640080"/>
            <a:ext cx="7863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Aprendizajes, limitaciones y trabajo futuro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457200" y="1371600"/>
            <a:ext cx="3977640" cy="21488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457200" y="1371600"/>
            <a:ext cx="3977640" cy="420624"/>
          </a:xfrm>
          <a:prstGeom prst="rect">
            <a:avLst/>
          </a:prstGeom>
          <a:solidFill>
            <a:srgbClr val="7D3C98"/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548640" y="1371600"/>
            <a:ext cx="3886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onsolas"/>
              <a:buNone/>
            </a:pPr>
            <a:r>
              <a:rPr b="1" lang="en-US" sz="1600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rPr>
              <a:t>💡 </a:t>
            </a:r>
            <a:r>
              <a:rPr b="1"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Aprendizajes clave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594360" y="1883664"/>
            <a:ext cx="3703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1050"/>
              <a:buFont typeface="Calibri"/>
              <a:buNone/>
            </a:pPr>
            <a:r>
              <a:rPr b="1" lang="en-US" sz="1450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1" lang="en-US" sz="14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Diferencia real entre razonar y consultar una tabla</a:t>
            </a:r>
            <a:endParaRPr b="1"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594360" y="2432304"/>
            <a:ext cx="3703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1050"/>
              <a:buFont typeface="Calibri"/>
              <a:buNone/>
            </a:pPr>
            <a:r>
              <a:rPr b="1" lang="en-US" sz="1450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1" lang="en-US" sz="14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El mismo residuo puede clasificarse diferente según su estado</a:t>
            </a:r>
            <a:endParaRPr b="1"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594360" y="2980944"/>
            <a:ext cx="3703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1050"/>
              <a:buFont typeface="Calibri"/>
              <a:buNone/>
            </a:pPr>
            <a:r>
              <a:rPr b="1" lang="en-US" sz="1450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1" lang="en-US" sz="14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Explicar el 'por qué' genera confianza en el usuario</a:t>
            </a:r>
            <a:endParaRPr b="1"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4572000" y="1371600"/>
            <a:ext cx="4114800" cy="21488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4572000" y="1371600"/>
            <a:ext cx="4114800" cy="42062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4663440" y="1371600"/>
            <a:ext cx="4023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⚠️</a:t>
            </a:r>
            <a:r>
              <a:rPr b="1"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Limitaciones actuales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4709160" y="1883664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b="1" lang="en-US" sz="14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b="1" lang="en-US" sz="14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Detección por keywords — no entiende lenguaje libre</a:t>
            </a:r>
            <a:endParaRPr b="1"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4709160" y="2432304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b="1" lang="en-US" sz="14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b="1" lang="en-US" sz="14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Puntos Verdes limitados a CABA</a:t>
            </a:r>
            <a:endParaRPr b="1"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4709160" y="2980944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b="1" lang="en-US" sz="145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b="1" lang="en-US" sz="14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'me quedó media pizza' → desconocido</a:t>
            </a:r>
            <a:endParaRPr b="1"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457200" y="36576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lang="en-US" sz="20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Trabajo futuro: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457200" y="4005076"/>
            <a:ext cx="2651700" cy="1025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457200" y="4032504"/>
            <a:ext cx="6858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1143000" y="4005048"/>
            <a:ext cx="1874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100"/>
              <a:buFont typeface="Calibri"/>
              <a:buNone/>
            </a:pPr>
            <a:r>
              <a:rPr b="1" lang="en-US" sz="1200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NLP + LLM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1114150" y="4334250"/>
            <a:ext cx="19491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1" lang="en-US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como capa de comprensión → motor de reglas como capa de razonamiento</a:t>
            </a:r>
            <a:endParaRPr b="1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3355850" y="4005076"/>
            <a:ext cx="2651700" cy="1025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3355848" y="4032504"/>
            <a:ext cx="6858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🗺️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4041650" y="4041625"/>
            <a:ext cx="1874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100"/>
              <a:buFont typeface="Calibri"/>
              <a:buNone/>
            </a:pPr>
            <a:r>
              <a:rPr b="1" lang="en-US" sz="1200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Cobertura GBA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4041650" y="4334249"/>
            <a:ext cx="18744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1" lang="en-US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Extender Puntos Verdes a municipios del Gran Buenos Aires</a:t>
            </a:r>
            <a:endParaRPr b="1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6254500" y="4005076"/>
            <a:ext cx="2704800" cy="1025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A93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6254496" y="4032504"/>
            <a:ext cx="6858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✏️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6940296" y="4059936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100"/>
              <a:buFont typeface="Calibri"/>
              <a:buNone/>
            </a:pPr>
            <a:r>
              <a:rPr b="1" lang="en-US" sz="1200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Editor de reglas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6940300" y="4299073"/>
            <a:ext cx="18744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1" lang="en-US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Interfaz para editar el CSV sin necesitar acceso al código</a:t>
            </a:r>
            <a:endParaRPr b="1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2DC653">
              <a:alpha val="12156"/>
            </a:srgbClr>
          </a:solidFill>
          <a:ln cap="flat" cmpd="sng" w="12700">
            <a:solidFill>
              <a:srgbClr val="2DC653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6583680" y="2926080"/>
            <a:ext cx="3657600" cy="3657600"/>
          </a:xfrm>
          <a:prstGeom prst="ellipse">
            <a:avLst/>
          </a:prstGeom>
          <a:solidFill>
            <a:srgbClr val="0A9396">
              <a:alpha val="12156"/>
            </a:srgbClr>
          </a:solidFill>
          <a:ln cap="flat" cmpd="sng" w="12700">
            <a:solidFill>
              <a:srgbClr val="0A9396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3200400" y="228600"/>
            <a:ext cx="2743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</a:pPr>
            <a:r>
              <a:rPr lang="en-US" sz="6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❓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Muchas Gracias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2560320" y="2212848"/>
            <a:ext cx="4023360" cy="36576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1463040" y="2999232"/>
            <a:ext cx="6217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1463040" y="3602736"/>
            <a:ext cx="6217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1463040" y="4206240"/>
            <a:ext cx="6217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6" y="2507625"/>
            <a:ext cx="2464875" cy="239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2026-06-02T23:34:24Z</dcterms:created>
  <dc:creator>PptxGenJS</dc:creator>
</cp:coreProperties>
</file>